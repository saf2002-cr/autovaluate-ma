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layfair Display Bold" charset="1" panose="00000000000000000000"/>
      <p:regular r:id="rId22"/>
    </p:embeddedFont>
    <p:embeddedFont>
      <p:font typeface="Open Sans" charset="1" panose="020B0606030504020204"/>
      <p:regular r:id="rId23"/>
    </p:embeddedFont>
    <p:embeddedFont>
      <p:font typeface="Playfair Display" charset="1" panose="00000000000000000000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52994"/>
            <a:ext cx="1028700" cy="11136444"/>
            <a:chOff x="0" y="0"/>
            <a:chExt cx="270933" cy="2933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933055"/>
            </a:xfrm>
            <a:custGeom>
              <a:avLst/>
              <a:gdLst/>
              <a:ahLst/>
              <a:cxnLst/>
              <a:rect r="r" b="b" t="t" l="l"/>
              <a:pathLst>
                <a:path h="2933055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33055"/>
                  </a:lnTo>
                  <a:lnTo>
                    <a:pt x="0" y="293305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297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708928" y="6361864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769517" y="8542301"/>
            <a:ext cx="4212011" cy="1245906"/>
          </a:xfrm>
          <a:custGeom>
            <a:avLst/>
            <a:gdLst/>
            <a:ahLst/>
            <a:cxnLst/>
            <a:rect r="r" b="b" t="t" l="l"/>
            <a:pathLst>
              <a:path h="1245906" w="4212011">
                <a:moveTo>
                  <a:pt x="0" y="0"/>
                </a:moveTo>
                <a:lnTo>
                  <a:pt x="4212011" y="0"/>
                </a:lnTo>
                <a:lnTo>
                  <a:pt x="4212011" y="1245906"/>
                </a:lnTo>
                <a:lnTo>
                  <a:pt x="0" y="124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5594" y="3190619"/>
            <a:ext cx="11456718" cy="420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8185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Used Car Price</a:t>
            </a:r>
          </a:p>
          <a:p>
            <a:pPr algn="l">
              <a:lnSpc>
                <a:spcPts val="8267"/>
              </a:lnSpc>
            </a:pPr>
            <a:r>
              <a:rPr lang="en-US" sz="8185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Prediction - Machine </a:t>
            </a:r>
          </a:p>
          <a:p>
            <a:pPr algn="l">
              <a:lnSpc>
                <a:spcPts val="8267"/>
              </a:lnSpc>
            </a:pPr>
            <a:r>
              <a:rPr lang="en-US" sz="8185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Learning Project</a:t>
            </a:r>
          </a:p>
          <a:p>
            <a:pPr algn="l">
              <a:lnSpc>
                <a:spcPts val="826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37858" y="-21495"/>
            <a:ext cx="5750142" cy="1916714"/>
          </a:xfrm>
          <a:custGeom>
            <a:avLst/>
            <a:gdLst/>
            <a:ahLst/>
            <a:cxnLst/>
            <a:rect r="r" b="b" t="t" l="l"/>
            <a:pathLst>
              <a:path h="1916714" w="5750142">
                <a:moveTo>
                  <a:pt x="0" y="0"/>
                </a:moveTo>
                <a:lnTo>
                  <a:pt x="5750142" y="0"/>
                </a:lnTo>
                <a:lnTo>
                  <a:pt x="5750142" y="1916714"/>
                </a:lnTo>
                <a:lnTo>
                  <a:pt x="0" y="1916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2746179" y="4900281"/>
            <a:ext cx="6387707" cy="42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000" spc="40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End-</a:t>
            </a:r>
            <a:r>
              <a:rPr lang="en-US" sz="2000" spc="40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to-End Machine Learning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6630" y="747078"/>
            <a:ext cx="2479370" cy="42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000" spc="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SDBDIA-2A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6632" y="747078"/>
            <a:ext cx="6387707" cy="42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000" spc="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juin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83898" y="8389901"/>
            <a:ext cx="5260102" cy="51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2418" spc="10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Developed by:  SAFAA OUSSALEM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28750" y="3916504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927095" y="9248387"/>
            <a:ext cx="7155238" cy="2467363"/>
            <a:chOff x="0" y="0"/>
            <a:chExt cx="1884507" cy="64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4507" cy="649840"/>
            </a:xfrm>
            <a:custGeom>
              <a:avLst/>
              <a:gdLst/>
              <a:ahLst/>
              <a:cxnLst/>
              <a:rect r="r" b="b" t="t" l="l"/>
              <a:pathLst>
                <a:path h="649840" w="1884507">
                  <a:moveTo>
                    <a:pt x="0" y="0"/>
                  </a:moveTo>
                  <a:lnTo>
                    <a:pt x="1884507" y="0"/>
                  </a:lnTo>
                  <a:lnTo>
                    <a:pt x="1884507" y="649840"/>
                  </a:lnTo>
                  <a:lnTo>
                    <a:pt x="0" y="64984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84507" cy="687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41346"/>
            <a:ext cx="18288000" cy="2455447"/>
            <a:chOff x="0" y="0"/>
            <a:chExt cx="3059033" cy="410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59032" cy="410722"/>
            </a:xfrm>
            <a:custGeom>
              <a:avLst/>
              <a:gdLst/>
              <a:ahLst/>
              <a:cxnLst/>
              <a:rect r="r" b="b" t="t" l="l"/>
              <a:pathLst>
                <a:path h="410722" w="3059032">
                  <a:moveTo>
                    <a:pt x="0" y="0"/>
                  </a:moveTo>
                  <a:lnTo>
                    <a:pt x="3059032" y="0"/>
                  </a:lnTo>
                  <a:lnTo>
                    <a:pt x="3059032" y="410722"/>
                  </a:lnTo>
                  <a:lnTo>
                    <a:pt x="0" y="410722"/>
                  </a:lnTo>
                  <a:close/>
                </a:path>
              </a:pathLst>
            </a:custGeom>
            <a:blipFill>
              <a:blip r:embed="rId2"/>
              <a:stretch>
                <a:fillRect l="0" t="0" r="-2954" b="-32502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28750" y="2688460"/>
            <a:ext cx="9498345" cy="106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3"/>
              </a:lnSpc>
              <a:spcBef>
                <a:spcPct val="0"/>
              </a:spcBef>
            </a:pPr>
            <a:r>
              <a:rPr lang="en-US" b="true" sz="7943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Table of Contents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2868" y="5858884"/>
            <a:ext cx="4814440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55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Introduction &amp; Project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2387" y="8952858"/>
            <a:ext cx="4451749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55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Cleaning and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2387" y="7089069"/>
            <a:ext cx="5119100" cy="36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55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Collection -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00740" y="5892666"/>
            <a:ext cx="5496320" cy="36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Building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2868" y="7844751"/>
            <a:ext cx="5119100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55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Exploratory Data Analysis (EDA)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00740" y="6912857"/>
            <a:ext cx="4605449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55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Evaluation and Validation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00740" y="7933048"/>
            <a:ext cx="2622543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 &amp; 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5789" y="4274722"/>
            <a:ext cx="8710611" cy="7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  <a:spcBef>
                <a:spcPct val="0"/>
              </a:spcBef>
            </a:pPr>
            <a:r>
              <a:rPr lang="en-US" sz="2799">
                <a:solidFill>
                  <a:srgbClr val="19191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Web Scraping to Predictive Modeling: Unlocking </a:t>
            </a:r>
            <a:r>
              <a:rPr lang="en-US" sz="2799">
                <a:solidFill>
                  <a:srgbClr val="19191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Moroccan Used Car Market.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312" y="3895415"/>
            <a:ext cx="6547718" cy="5796408"/>
            <a:chOff x="0" y="0"/>
            <a:chExt cx="1014413" cy="898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413" cy="898015"/>
            </a:xfrm>
            <a:custGeom>
              <a:avLst/>
              <a:gdLst/>
              <a:ahLst/>
              <a:cxnLst/>
              <a:rect r="r" b="b" t="t" l="l"/>
              <a:pathLst>
                <a:path h="898015" w="1014413">
                  <a:moveTo>
                    <a:pt x="0" y="0"/>
                  </a:moveTo>
                  <a:lnTo>
                    <a:pt x="1014413" y="0"/>
                  </a:lnTo>
                  <a:lnTo>
                    <a:pt x="1014413" y="898015"/>
                  </a:lnTo>
                  <a:lnTo>
                    <a:pt x="0" y="898015"/>
                  </a:lnTo>
                  <a:close/>
                </a:path>
              </a:pathLst>
            </a:custGeom>
            <a:blipFill>
              <a:blip r:embed="rId2"/>
              <a:stretch>
                <a:fillRect l="0" t="-5938" r="0" b="-593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22847" y="9798018"/>
            <a:ext cx="19581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26715" y="3090127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26715" y="1152525"/>
            <a:ext cx="8890325" cy="24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9"/>
              </a:lnSpc>
              <a:spcBef>
                <a:spcPct val="0"/>
              </a:spcBef>
            </a:pP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</a:t>
            </a: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ro</a:t>
            </a: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ject C</a:t>
            </a: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</a:t>
            </a: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ntext and Objective</a:t>
            </a:r>
            <a:r>
              <a:rPr lang="en-US" b="true" sz="6424" spc="-12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</a:t>
            </a:r>
          </a:p>
          <a:p>
            <a:pPr algn="l" marL="0" indent="0" lvl="0">
              <a:lnSpc>
                <a:spcPts val="648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22847" y="3471603"/>
            <a:ext cx="6473688" cy="531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917" indent="-230958" lvl="1">
              <a:lnSpc>
                <a:spcPts val="4257"/>
              </a:lnSpc>
              <a:spcBef>
                <a:spcPct val="0"/>
              </a:spcBef>
              <a:buFont typeface="Arial"/>
              <a:buChar char="•"/>
            </a:pPr>
            <a:r>
              <a:rPr lang="en-US" sz="2139" spc="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oblem Statement: How to accurately predict the price of a used car in the Moroccan market?</a:t>
            </a:r>
          </a:p>
          <a:p>
            <a:pPr algn="l" marL="461917" indent="-230958" lvl="1">
              <a:lnSpc>
                <a:spcPts val="4257"/>
              </a:lnSpc>
              <a:spcBef>
                <a:spcPct val="0"/>
              </a:spcBef>
              <a:buFont typeface="Arial"/>
              <a:buChar char="•"/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bjectives:</a:t>
            </a:r>
          </a:p>
          <a:p>
            <a:pPr algn="just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+ </a:t>
            </a: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Collect real data from moteur.ma</a:t>
            </a:r>
          </a:p>
          <a:p>
            <a:pPr algn="just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+ Analyze factors influencing prices</a:t>
            </a:r>
          </a:p>
          <a:p>
            <a:pPr algn="just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+ Develop a performant predictive model</a:t>
            </a:r>
          </a:p>
          <a:p>
            <a:pPr algn="just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+ Provide insights for buyers/sellers</a:t>
            </a:r>
          </a:p>
          <a:p>
            <a:pPr algn="l" marL="461917" indent="-230958" lvl="1">
              <a:lnSpc>
                <a:spcPts val="4257"/>
              </a:lnSpc>
              <a:spcBef>
                <a:spcPct val="0"/>
              </a:spcBef>
              <a:buFont typeface="Arial"/>
              <a:buChar char="•"/>
            </a:pP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139" spc="1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ethods: Web Scraping, Machine Learning, Statistical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4785" y="8768200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904102" y="1072239"/>
            <a:ext cx="12498847" cy="94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Collection -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5919" y="2934127"/>
            <a:ext cx="8568081" cy="42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2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Web Sc</a:t>
            </a:r>
            <a:r>
              <a:rPr lang="en-US" b="true" sz="3200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raping from Moteur.ma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67374"/>
            <a:ext cx="6870555" cy="509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https://www.moteur.ma/fr/voiture/achatvoiture-occasion/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Volume: 67 pages scraped (~2000 listings)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Extracted data:</a:t>
            </a:r>
          </a:p>
          <a:p>
            <a:pPr algn="just" marL="803711" indent="-267904" lvl="2">
              <a:lnSpc>
                <a:spcPts val="3703"/>
              </a:lnSpc>
              <a:buFont typeface="Arial"/>
              <a:buChar char="⚬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Price, Brand, Model, Year</a:t>
            </a:r>
          </a:p>
          <a:p>
            <a:pPr algn="just" marL="803711" indent="-267904" lvl="2">
              <a:lnSpc>
                <a:spcPts val="3703"/>
              </a:lnSpc>
              <a:buFont typeface="Arial"/>
              <a:buChar char="⚬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Mileage, Fuel, Transmission</a:t>
            </a:r>
          </a:p>
          <a:p>
            <a:pPr algn="just" marL="803711" indent="-267904" lvl="2">
              <a:lnSpc>
                <a:spcPts val="3703"/>
              </a:lnSpc>
              <a:buFont typeface="Arial"/>
              <a:buChar char="⚬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City, Fiscal Power, Number of doors</a:t>
            </a:r>
          </a:p>
          <a:p>
            <a:pPr algn="just">
              <a:lnSpc>
                <a:spcPts val="3703"/>
              </a:lnSpc>
            </a:pPr>
          </a:p>
          <a:p>
            <a:pPr algn="l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Tools: Python, BeautifulSoup, Requests, Pandas</a:t>
            </a:r>
          </a:p>
          <a:p>
            <a:pPr algn="just">
              <a:lnSpc>
                <a:spcPts val="37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02432" y="3567374"/>
            <a:ext cx="6870555" cy="509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Sequential Version: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- Pag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e-by-page processing</a:t>
            </a:r>
          </a:p>
          <a:p>
            <a:pPr algn="l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- Estimated time: ~26 minutes for detail pages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- 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Problem: Too slow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Multi-Threaded Version: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- 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ThreadPoolExecutor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- 10 threads in parallel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- Gain: Time divided by ~10</a:t>
            </a:r>
          </a:p>
          <a:p>
            <a:pPr algn="just">
              <a:lnSpc>
                <a:spcPts val="3703"/>
              </a:lnSpc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- Result: ~2-3 minutes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Tools: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concurrent.futures.ThreadPoolExecutor</a:t>
            </a:r>
          </a:p>
          <a:p>
            <a:pPr algn="just">
              <a:lnSpc>
                <a:spcPts val="370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927095" y="9248387"/>
            <a:ext cx="7155238" cy="2467363"/>
            <a:chOff x="0" y="0"/>
            <a:chExt cx="1884507" cy="649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4507" cy="649840"/>
            </a:xfrm>
            <a:custGeom>
              <a:avLst/>
              <a:gdLst/>
              <a:ahLst/>
              <a:cxnLst/>
              <a:rect r="r" b="b" t="t" l="l"/>
              <a:pathLst>
                <a:path h="649840" w="1884507">
                  <a:moveTo>
                    <a:pt x="0" y="0"/>
                  </a:moveTo>
                  <a:lnTo>
                    <a:pt x="1884507" y="0"/>
                  </a:lnTo>
                  <a:lnTo>
                    <a:pt x="1884507" y="649840"/>
                  </a:lnTo>
                  <a:lnTo>
                    <a:pt x="0" y="64984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4507" cy="687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505825" y="2036487"/>
            <a:ext cx="19581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0605" y="2086933"/>
            <a:ext cx="8948695" cy="4274585"/>
            <a:chOff x="0" y="0"/>
            <a:chExt cx="1420341" cy="678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0341" cy="678464"/>
            </a:xfrm>
            <a:custGeom>
              <a:avLst/>
              <a:gdLst/>
              <a:ahLst/>
              <a:cxnLst/>
              <a:rect r="r" b="b" t="t" l="l"/>
              <a:pathLst>
                <a:path h="678464" w="1420341">
                  <a:moveTo>
                    <a:pt x="0" y="0"/>
                  </a:moveTo>
                  <a:lnTo>
                    <a:pt x="1420341" y="0"/>
                  </a:lnTo>
                  <a:lnTo>
                    <a:pt x="1420341" y="678464"/>
                  </a:lnTo>
                  <a:lnTo>
                    <a:pt x="0" y="678464"/>
                  </a:lnTo>
                  <a:close/>
                </a:path>
              </a:pathLst>
            </a:custGeom>
            <a:blipFill>
              <a:blip r:embed="rId2"/>
              <a:stretch>
                <a:fillRect l="0" t="-1860" r="0" b="-18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0968" y="6361517"/>
            <a:ext cx="10558011" cy="3580684"/>
            <a:chOff x="0" y="0"/>
            <a:chExt cx="1675773" cy="5683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5773" cy="568328"/>
            </a:xfrm>
            <a:custGeom>
              <a:avLst/>
              <a:gdLst/>
              <a:ahLst/>
              <a:cxnLst/>
              <a:rect r="r" b="b" t="t" l="l"/>
              <a:pathLst>
                <a:path h="568328" w="1675773">
                  <a:moveTo>
                    <a:pt x="0" y="0"/>
                  </a:moveTo>
                  <a:lnTo>
                    <a:pt x="1675773" y="0"/>
                  </a:lnTo>
                  <a:lnTo>
                    <a:pt x="1675773" y="568328"/>
                  </a:lnTo>
                  <a:lnTo>
                    <a:pt x="0" y="568328"/>
                  </a:lnTo>
                  <a:close/>
                </a:path>
              </a:pathLst>
            </a:custGeom>
            <a:blipFill>
              <a:blip r:embed="rId3"/>
              <a:stretch>
                <a:fillRect l="0" t="0" r="-3975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3749" y="3128787"/>
            <a:ext cx="6870555" cy="323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shape: 2010 observations, 13 variables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types: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umerical (5): Price, Year, Mileage, Power, Doors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ategorical (8): Brand, Model, City, Fuel, Transmission, etc.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Tools: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Matplotlib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Seaborn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1861" spc="16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Missingno</a:t>
            </a:r>
          </a:p>
          <a:p>
            <a:pPr algn="just">
              <a:lnSpc>
                <a:spcPts val="370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17670" y="6619196"/>
            <a:ext cx="6284716" cy="294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statistics:</a:t>
            </a:r>
          </a:p>
          <a:p>
            <a:pPr algn="just">
              <a:lnSpc>
                <a:spcPts val="3388"/>
              </a:lnSpc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&gt; 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Mean: Very high due to outliers</a:t>
            </a:r>
          </a:p>
          <a:p>
            <a:pPr algn="just">
              <a:lnSpc>
                <a:spcPts val="3388"/>
              </a:lnSpc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&gt; 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edian: More representative</a:t>
            </a:r>
          </a:p>
          <a:p>
            <a:pPr algn="just">
              <a:lnSpc>
                <a:spcPts val="3388"/>
              </a:lnSpc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&gt; Min: 100 MAD (error)</a:t>
            </a:r>
          </a:p>
          <a:p>
            <a:pPr algn="just">
              <a:lnSpc>
                <a:spcPts val="3388"/>
              </a:lnSpc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&gt; Max: 58,000,000 MAD (extreme outlier)</a:t>
            </a:r>
          </a:p>
          <a:p>
            <a:pPr algn="just">
              <a:lnSpc>
                <a:spcPts val="3388"/>
              </a:lnSpc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&gt; 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Skewnes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s: Very 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 (asymm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ic d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buti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n)</a:t>
            </a:r>
          </a:p>
          <a:p>
            <a:pPr algn="just">
              <a:lnSpc>
                <a:spcPts val="338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16957" y="813080"/>
            <a:ext cx="12498847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Exploratory Analysis (EDA)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7812" y="5907301"/>
            <a:ext cx="8711912" cy="4119280"/>
            <a:chOff x="0" y="0"/>
            <a:chExt cx="1420341" cy="671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0341" cy="671584"/>
            </a:xfrm>
            <a:custGeom>
              <a:avLst/>
              <a:gdLst/>
              <a:ahLst/>
              <a:cxnLst/>
              <a:rect r="r" b="b" t="t" l="l"/>
              <a:pathLst>
                <a:path h="671584" w="1420341">
                  <a:moveTo>
                    <a:pt x="0" y="0"/>
                  </a:moveTo>
                  <a:lnTo>
                    <a:pt x="1420341" y="0"/>
                  </a:lnTo>
                  <a:lnTo>
                    <a:pt x="1420341" y="671584"/>
                  </a:lnTo>
                  <a:lnTo>
                    <a:pt x="0" y="671584"/>
                  </a:lnTo>
                  <a:close/>
                </a:path>
              </a:pathLst>
            </a:custGeom>
            <a:blipFill>
              <a:blip r:embed="rId2"/>
              <a:stretch>
                <a:fillRect l="0" t="-1179" r="0" b="-360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31587" y="845779"/>
            <a:ext cx="9038988" cy="4640119"/>
            <a:chOff x="0" y="0"/>
            <a:chExt cx="1675773" cy="8602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5773" cy="860249"/>
            </a:xfrm>
            <a:custGeom>
              <a:avLst/>
              <a:gdLst/>
              <a:ahLst/>
              <a:cxnLst/>
              <a:rect r="r" b="b" t="t" l="l"/>
              <a:pathLst>
                <a:path h="860249" w="1675773">
                  <a:moveTo>
                    <a:pt x="0" y="0"/>
                  </a:moveTo>
                  <a:lnTo>
                    <a:pt x="1675773" y="0"/>
                  </a:lnTo>
                  <a:lnTo>
                    <a:pt x="1675773" y="860249"/>
                  </a:lnTo>
                  <a:lnTo>
                    <a:pt x="0" y="860249"/>
                  </a:lnTo>
                  <a:close/>
                </a:path>
              </a:pathLst>
            </a:custGeom>
            <a:blipFill>
              <a:blip r:embed="rId3"/>
              <a:stretch>
                <a:fillRect l="-1805" t="0" r="-180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-119129" y="536100"/>
            <a:ext cx="1906071" cy="1667812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5444" y="2380192"/>
            <a:ext cx="8568081" cy="42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2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 spc="-64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Price Dist</a:t>
            </a:r>
            <a:r>
              <a:rPr lang="en-US" b="true" sz="3200" spc="-64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</a:t>
            </a:r>
            <a:r>
              <a:rPr lang="en-US" b="true" sz="3200" spc="-64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ibu</a:t>
            </a:r>
            <a:r>
              <a:rPr lang="en-US" b="true" sz="3200" spc="-64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tion (</a:t>
            </a:r>
            <a:r>
              <a:rPr lang="en-US" b="true" sz="3200" spc="-64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Zoom</a:t>
            </a:r>
            <a:r>
              <a:rPr lang="en-US" b="true" sz="3200" spc="-64" strike="noStrike" u="none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3013438"/>
            <a:ext cx="6870555" cy="323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Concentration: 100k - 350k MAD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eak: 150k - 200k MAD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Distribution: Right-skewed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ight: Majority of c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 i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 ra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Method: Outlier filtering + KDE (Kernel Density Estimation)</a:t>
            </a:r>
          </a:p>
          <a:p>
            <a:pPr algn="just">
              <a:lnSpc>
                <a:spcPts val="370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74584" y="6389102"/>
            <a:ext cx="6284716" cy="251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Distribution: Left-skewed (concentration on recent years)</a:t>
            </a:r>
          </a:p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Dominant period: 2015-2024</a:t>
            </a:r>
          </a:p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Peak: Around 2022</a:t>
            </a:r>
          </a:p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Outliers: Few vehicle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bef</a:t>
            </a: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 2010</a:t>
            </a:r>
          </a:p>
          <a:p>
            <a:pPr algn="just" marL="367590" indent="-183795" lvl="1">
              <a:lnSpc>
                <a:spcPts val="3388"/>
              </a:lnSpc>
              <a:buFont typeface="Arial"/>
              <a:buChar char="•"/>
            </a:pPr>
            <a:r>
              <a:rPr lang="en-US" sz="1702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Interpretation: Market dominated by recent vehicles</a:t>
            </a:r>
          </a:p>
          <a:p>
            <a:pPr algn="just">
              <a:lnSpc>
                <a:spcPts val="338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7700" y="3028334"/>
            <a:ext cx="3736731" cy="389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&gt; Fuel: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iesel: 74.2% (dominant)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Petrol: 15.5%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Hybrid: 7.9%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Electric: 1.8%</a:t>
            </a:r>
          </a:p>
          <a:p>
            <a:pPr algn="just">
              <a:lnSpc>
                <a:spcPts val="2640"/>
              </a:lnSpc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&gt; Transmission: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Automatic: 71.0%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Manual: 25.8%</a:t>
            </a:r>
          </a:p>
          <a:p>
            <a:pPr algn="just" marL="320248" indent="-160124" lvl="1">
              <a:lnSpc>
                <a:spcPts val="2640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Semi-auto: 0.1%</a:t>
            </a:r>
          </a:p>
          <a:p>
            <a:pPr algn="just">
              <a:lnSpc>
                <a:spcPts val="2640"/>
              </a:lnSpc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&gt; Interpretation: Moroccan market oriented toward diesel and automatic</a:t>
            </a:r>
          </a:p>
          <a:p>
            <a:pPr algn="just">
              <a:lnSpc>
                <a:spcPts val="264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534430" y="3967563"/>
            <a:ext cx="1435696" cy="929496"/>
            <a:chOff x="0" y="0"/>
            <a:chExt cx="12554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5447" cy="812800"/>
            </a:xfrm>
            <a:custGeom>
              <a:avLst/>
              <a:gdLst/>
              <a:ahLst/>
              <a:cxnLst/>
              <a:rect r="r" b="b" t="t" l="l"/>
              <a:pathLst>
                <a:path h="812800" w="1255447">
                  <a:moveTo>
                    <a:pt x="1255447" y="406400"/>
                  </a:moveTo>
                  <a:lnTo>
                    <a:pt x="849047" y="0"/>
                  </a:lnTo>
                  <a:lnTo>
                    <a:pt x="84904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849047" y="609600"/>
                  </a:lnTo>
                  <a:lnTo>
                    <a:pt x="849047" y="812800"/>
                  </a:lnTo>
                  <a:lnTo>
                    <a:pt x="1255447" y="406400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5100"/>
              <a:ext cx="11538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9602" y="6387322"/>
            <a:ext cx="5875956" cy="3899678"/>
          </a:xfrm>
          <a:custGeom>
            <a:avLst/>
            <a:gdLst/>
            <a:ahLst/>
            <a:cxnLst/>
            <a:rect r="r" b="b" t="t" l="l"/>
            <a:pathLst>
              <a:path h="3899678" w="5875956">
                <a:moveTo>
                  <a:pt x="0" y="0"/>
                </a:moveTo>
                <a:lnTo>
                  <a:pt x="5875956" y="0"/>
                </a:lnTo>
                <a:lnTo>
                  <a:pt x="5875956" y="3899678"/>
                </a:lnTo>
                <a:lnTo>
                  <a:pt x="0" y="3899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6346" y="6387322"/>
            <a:ext cx="6758145" cy="3819821"/>
          </a:xfrm>
          <a:custGeom>
            <a:avLst/>
            <a:gdLst/>
            <a:ahLst/>
            <a:cxnLst/>
            <a:rect r="r" b="b" t="t" l="l"/>
            <a:pathLst>
              <a:path h="3819821" w="6758145">
                <a:moveTo>
                  <a:pt x="0" y="0"/>
                </a:moveTo>
                <a:lnTo>
                  <a:pt x="6758146" y="0"/>
                </a:lnTo>
                <a:lnTo>
                  <a:pt x="6758146" y="3819821"/>
                </a:lnTo>
                <a:lnTo>
                  <a:pt x="0" y="3819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3074" y="2402028"/>
            <a:ext cx="3221074" cy="38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6"/>
              </a:lnSpc>
              <a:spcBef>
                <a:spcPct val="0"/>
              </a:spcBef>
            </a:pPr>
            <a:r>
              <a:rPr lang="en-US" b="true" sz="2966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1 - Brand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3074" y="3002787"/>
            <a:ext cx="3475482" cy="367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0248" indent="-160124" lvl="1">
              <a:lnSpc>
                <a:spcPts val="2951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Diversity: 58 unique brands</a:t>
            </a:r>
          </a:p>
          <a:p>
            <a:pPr algn="just" marL="320248" indent="-160124" lvl="1">
              <a:lnSpc>
                <a:spcPts val="2951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Leaders:</a:t>
            </a:r>
          </a:p>
          <a:p>
            <a:pPr algn="just" marL="640497" indent="-213499" lvl="2">
              <a:lnSpc>
                <a:spcPts val="2951"/>
              </a:lnSpc>
              <a:buAutoNum type="alphaLcPeriod" startAt="1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Mercedes-Benz (178)</a:t>
            </a:r>
          </a:p>
          <a:p>
            <a:pPr algn="just" marL="640497" indent="-213499" lvl="2">
              <a:lnSpc>
                <a:spcPts val="2951"/>
              </a:lnSpc>
              <a:buAutoNum type="alphaLcPeriod" startAt="1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Volkswagen (150)</a:t>
            </a:r>
          </a:p>
          <a:p>
            <a:pPr algn="just" marL="640497" indent="-213499" lvl="2">
              <a:lnSpc>
                <a:spcPts val="2951"/>
              </a:lnSpc>
              <a:buAutoNum type="alphaLcPeriod" startAt="1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Hyundai (150)</a:t>
            </a:r>
          </a:p>
          <a:p>
            <a:pPr algn="just" marL="640497" indent="-213499" lvl="2">
              <a:lnSpc>
                <a:spcPts val="2951"/>
              </a:lnSpc>
              <a:buAutoNum type="alphaLcPeriod" startAt="1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Renault (149)</a:t>
            </a:r>
          </a:p>
          <a:p>
            <a:pPr algn="just" marL="640497" indent="-213499" lvl="2">
              <a:lnSpc>
                <a:spcPts val="2951"/>
              </a:lnSpc>
              <a:buAutoNum type="alphaLcPeriod" startAt="1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 (149)</a:t>
            </a:r>
          </a:p>
          <a:p>
            <a:pPr algn="just" marL="320248" indent="-160124" lvl="1">
              <a:lnSpc>
                <a:spcPts val="2951"/>
              </a:lnSpc>
              <a:buFont typeface="Arial"/>
              <a:buChar char="•"/>
            </a:pPr>
            <a:r>
              <a:rPr lang="en-US" sz="1483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Mix: Premium brands + mass market</a:t>
            </a:r>
          </a:p>
          <a:p>
            <a:pPr algn="just" marL="0" indent="0" lvl="0">
              <a:lnSpc>
                <a:spcPts val="295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86923" y="893885"/>
            <a:ext cx="12498847" cy="94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Categorial 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97700" y="2402028"/>
            <a:ext cx="4454579" cy="38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6"/>
              </a:lnSpc>
              <a:spcBef>
                <a:spcPct val="0"/>
              </a:spcBef>
            </a:pPr>
            <a:r>
              <a:rPr lang="en-US" b="true" sz="2966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2 - Fuel &amp; Transmission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9269" y="2011928"/>
            <a:ext cx="4995657" cy="491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461" indent="-171730" lvl="1">
              <a:lnSpc>
                <a:spcPts val="2831"/>
              </a:lnSpc>
              <a:buFont typeface="Arial"/>
              <a:buChar char="•"/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 vs Year: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- Positive correlation (newer = more expensive)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</a:t>
            </a: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Pearson: 0.07 (weak due to outliers)</a:t>
            </a:r>
          </a:p>
          <a:p>
            <a:pPr algn="l" marL="343461" indent="-171730" lvl="1">
              <a:lnSpc>
                <a:spcPts val="2831"/>
              </a:lnSpc>
              <a:buFont typeface="Arial"/>
              <a:buChar char="•"/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 vs Mileage: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Slight negative trend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</a:t>
            </a: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Pearson: -0.037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</a:t>
            </a: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Masked by brand/year effect</a:t>
            </a:r>
          </a:p>
          <a:p>
            <a:pPr algn="just">
              <a:lnSpc>
                <a:spcPts val="2831"/>
              </a:lnSpc>
            </a:pPr>
          </a:p>
          <a:p>
            <a:pPr algn="l" marL="343461" indent="-171730" lvl="1">
              <a:lnSpc>
                <a:spcPts val="2831"/>
              </a:lnSpc>
              <a:buFont typeface="Arial"/>
              <a:buChar char="•"/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 vs Brand: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- </a:t>
            </a: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Mercedes, BMW, Audi &gt; 350k MAD  (median)</a:t>
            </a:r>
          </a:p>
          <a:p>
            <a:pPr algn="just">
              <a:lnSpc>
                <a:spcPts val="2831"/>
              </a:lnSpc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- Dacia, Renault, Fiat &lt; 150k MAD</a:t>
            </a:r>
          </a:p>
          <a:p>
            <a:pPr algn="l" marL="343461" indent="-171730" lvl="1">
              <a:lnSpc>
                <a:spcPts val="2831"/>
              </a:lnSpc>
              <a:buFont typeface="Arial"/>
              <a:buChar char="•"/>
            </a:pPr>
            <a:r>
              <a:rPr lang="en-US" sz="1590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Tools: Scatter plots, Boxplots, Correlation heatmap</a:t>
            </a:r>
          </a:p>
          <a:p>
            <a:pPr algn="just">
              <a:lnSpc>
                <a:spcPts val="283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012" y="6180272"/>
            <a:ext cx="6621867" cy="3653958"/>
          </a:xfrm>
          <a:custGeom>
            <a:avLst/>
            <a:gdLst/>
            <a:ahLst/>
            <a:cxnLst/>
            <a:rect r="r" b="b" t="t" l="l"/>
            <a:pathLst>
              <a:path h="3653958" w="6621867">
                <a:moveTo>
                  <a:pt x="0" y="0"/>
                </a:moveTo>
                <a:lnTo>
                  <a:pt x="6621867" y="0"/>
                </a:lnTo>
                <a:lnTo>
                  <a:pt x="6621867" y="3653958"/>
                </a:lnTo>
                <a:lnTo>
                  <a:pt x="0" y="365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3579" y="4549881"/>
            <a:ext cx="5029433" cy="3119522"/>
          </a:xfrm>
          <a:custGeom>
            <a:avLst/>
            <a:gdLst/>
            <a:ahLst/>
            <a:cxnLst/>
            <a:rect r="r" b="b" t="t" l="l"/>
            <a:pathLst>
              <a:path h="3119522" w="5029433">
                <a:moveTo>
                  <a:pt x="0" y="0"/>
                </a:moveTo>
                <a:lnTo>
                  <a:pt x="5029433" y="0"/>
                </a:lnTo>
                <a:lnTo>
                  <a:pt x="5029433" y="3119522"/>
                </a:lnTo>
                <a:lnTo>
                  <a:pt x="0" y="3119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75491" y="814274"/>
            <a:ext cx="6777458" cy="3735607"/>
          </a:xfrm>
          <a:custGeom>
            <a:avLst/>
            <a:gdLst/>
            <a:ahLst/>
            <a:cxnLst/>
            <a:rect r="r" b="b" t="t" l="l"/>
            <a:pathLst>
              <a:path h="3735607" w="6777458">
                <a:moveTo>
                  <a:pt x="0" y="0"/>
                </a:moveTo>
                <a:lnTo>
                  <a:pt x="6777458" y="0"/>
                </a:lnTo>
                <a:lnTo>
                  <a:pt x="6777458" y="3735607"/>
                </a:lnTo>
                <a:lnTo>
                  <a:pt x="0" y="3735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3381" y="5873086"/>
            <a:ext cx="5692371" cy="4042408"/>
          </a:xfrm>
          <a:custGeom>
            <a:avLst/>
            <a:gdLst/>
            <a:ahLst/>
            <a:cxnLst/>
            <a:rect r="r" b="b" t="t" l="l"/>
            <a:pathLst>
              <a:path h="4042408" w="5692371">
                <a:moveTo>
                  <a:pt x="0" y="0"/>
                </a:moveTo>
                <a:lnTo>
                  <a:pt x="5692371" y="0"/>
                </a:lnTo>
                <a:lnTo>
                  <a:pt x="5692371" y="4042408"/>
                </a:lnTo>
                <a:lnTo>
                  <a:pt x="0" y="4042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3381" y="886230"/>
            <a:ext cx="7846942" cy="3591696"/>
          </a:xfrm>
          <a:custGeom>
            <a:avLst/>
            <a:gdLst/>
            <a:ahLst/>
            <a:cxnLst/>
            <a:rect r="r" b="b" t="t" l="l"/>
            <a:pathLst>
              <a:path h="3591696" w="7846942">
                <a:moveTo>
                  <a:pt x="0" y="0"/>
                </a:moveTo>
                <a:lnTo>
                  <a:pt x="7846942" y="0"/>
                </a:lnTo>
                <a:lnTo>
                  <a:pt x="7846942" y="3591695"/>
                </a:lnTo>
                <a:lnTo>
                  <a:pt x="0" y="35916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4705416" y="5301220"/>
            <a:ext cx="360070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pc="9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LOU HUET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12503884" y="5301220"/>
            <a:ext cx="360070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pc="9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CÉLIA NAUDIN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2145" y="1566967"/>
            <a:ext cx="9085467" cy="7291283"/>
            <a:chOff x="0" y="0"/>
            <a:chExt cx="2392880" cy="1920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2880" cy="1920338"/>
            </a:xfrm>
            <a:custGeom>
              <a:avLst/>
              <a:gdLst/>
              <a:ahLst/>
              <a:cxnLst/>
              <a:rect r="r" b="b" t="t" l="l"/>
              <a:pathLst>
                <a:path h="1920338" w="2392880">
                  <a:moveTo>
                    <a:pt x="0" y="0"/>
                  </a:moveTo>
                  <a:lnTo>
                    <a:pt x="2392880" y="0"/>
                  </a:lnTo>
                  <a:lnTo>
                    <a:pt x="2392880" y="1920338"/>
                  </a:lnTo>
                  <a:lnTo>
                    <a:pt x="0" y="19203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2880" cy="1958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90588" y="2208611"/>
            <a:ext cx="8288580" cy="6007994"/>
          </a:xfrm>
          <a:custGeom>
            <a:avLst/>
            <a:gdLst/>
            <a:ahLst/>
            <a:cxnLst/>
            <a:rect r="r" b="b" t="t" l="l"/>
            <a:pathLst>
              <a:path h="6007994" w="8288580">
                <a:moveTo>
                  <a:pt x="0" y="0"/>
                </a:moveTo>
                <a:lnTo>
                  <a:pt x="8288580" y="0"/>
                </a:lnTo>
                <a:lnTo>
                  <a:pt x="8288580" y="6007994"/>
                </a:lnTo>
                <a:lnTo>
                  <a:pt x="0" y="6007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07826"/>
            <a:ext cx="6870555" cy="323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Price-Year: 0.07 (weak)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Price-Mileage: -0.04 (weak)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Year-Mileage: -0.39 (expected negative)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Year-Power: -0.71 (strong, but missing data)</a:t>
            </a:r>
          </a:p>
          <a:p>
            <a:pPr algn="just" marL="401856" indent="-200928" lvl="1">
              <a:lnSpc>
                <a:spcPts val="3703"/>
              </a:lnSpc>
              <a:buFont typeface="Arial"/>
              <a:buChar char="•"/>
            </a:pP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ight: Weak correlatio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ns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sugg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 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861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on-linear relationships</a:t>
            </a:r>
          </a:p>
          <a:p>
            <a:pPr algn="just">
              <a:lnSpc>
                <a:spcPts val="370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-119129" y="536100"/>
            <a:ext cx="1906071" cy="1667812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5919" y="2408767"/>
            <a:ext cx="8568081" cy="59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4" indent="-485772" lvl="1">
              <a:lnSpc>
                <a:spcPts val="45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499" spc="-89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Correlation Matrix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9250" y="8826154"/>
            <a:ext cx="2857500" cy="2857500"/>
            <a:chOff x="0" y="0"/>
            <a:chExt cx="752593" cy="75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0" y="0"/>
                  </a:moveTo>
                  <a:lnTo>
                    <a:pt x="752593" y="0"/>
                  </a:lnTo>
                  <a:lnTo>
                    <a:pt x="752593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593" cy="790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327037" y="2153417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90293" y="2384300"/>
            <a:ext cx="7410565" cy="5242002"/>
          </a:xfrm>
          <a:custGeom>
            <a:avLst/>
            <a:gdLst/>
            <a:ahLst/>
            <a:cxnLst/>
            <a:rect r="r" b="b" t="t" l="l"/>
            <a:pathLst>
              <a:path h="5242002" w="7410565">
                <a:moveTo>
                  <a:pt x="0" y="0"/>
                </a:moveTo>
                <a:lnTo>
                  <a:pt x="7410564" y="0"/>
                </a:lnTo>
                <a:lnTo>
                  <a:pt x="7410564" y="5242002"/>
                </a:lnTo>
                <a:lnTo>
                  <a:pt x="0" y="5242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97" t="0" r="-219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6879" y="1152525"/>
            <a:ext cx="7255887" cy="94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7852" y="2689067"/>
            <a:ext cx="7573386" cy="3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674" indent="-30533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8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8068" y="3253045"/>
            <a:ext cx="6072932" cy="325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Remove missing prices: 391 rows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Filter prices &lt; 5000 MAD: Data entry errors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lier treatment (IQR):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Q1, Q3, IQR c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alculated</a:t>
            </a:r>
          </a:p>
          <a:p>
            <a:pPr algn="just">
              <a:lnSpc>
                <a:spcPts val="3273"/>
              </a:lnSpc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Removal: Price &gt; Q3 + 1.5×IQR</a:t>
            </a:r>
          </a:p>
          <a:p>
            <a:pPr algn="just">
              <a:lnSpc>
                <a:spcPts val="3273"/>
              </a:lnSpc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- Fix "Land Rover": Parsing error corrected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Result: Reduced but cleaner dataset</a:t>
            </a:r>
          </a:p>
          <a:p>
            <a:pPr algn="just">
              <a:lnSpc>
                <a:spcPts val="327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192184" y="5191125"/>
            <a:ext cx="4597869" cy="35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846" indent="-283423" lvl="1">
              <a:lnSpc>
                <a:spcPts val="265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5" spc="-52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Handling Missing Values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2184" y="5720689"/>
            <a:ext cx="5298109" cy="4173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9"/>
              </a:lnSpc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&gt; Columns removed: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Fiscal_power (98.6% missing)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Condition (constant value)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Tit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le, URL (non-predictive)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Number_of_doors (69% missing)</a:t>
            </a:r>
          </a:p>
          <a:p>
            <a:pPr algn="just">
              <a:lnSpc>
                <a:spcPts val="3039"/>
              </a:lnSpc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&gt; Gro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up-based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mputation: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Method: Median/Mode by (Brand, Model)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Fallback: Global median/mode from training set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Anti-leakage: Calculation only on X_train</a:t>
            </a:r>
          </a:p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Tools:</a:t>
            </a:r>
            <a:r>
              <a:rPr lang="en-US" b="true" sz="1527" spc="13">
                <a:solidFill>
                  <a:srgbClr val="06367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groupby(), apply()</a:t>
            </a:r>
          </a:p>
          <a:p>
            <a:pPr algn="just">
              <a:lnSpc>
                <a:spcPts val="30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1934" y="9825157"/>
            <a:ext cx="12704816" cy="1858497"/>
            <a:chOff x="0" y="0"/>
            <a:chExt cx="3346124" cy="4894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6124" cy="489481"/>
            </a:xfrm>
            <a:custGeom>
              <a:avLst/>
              <a:gdLst/>
              <a:ahLst/>
              <a:cxnLst/>
              <a:rect r="r" b="b" t="t" l="l"/>
              <a:pathLst>
                <a:path h="489481" w="3346124">
                  <a:moveTo>
                    <a:pt x="0" y="0"/>
                  </a:moveTo>
                  <a:lnTo>
                    <a:pt x="3346124" y="0"/>
                  </a:lnTo>
                  <a:lnTo>
                    <a:pt x="3346124" y="489481"/>
                  </a:lnTo>
                  <a:lnTo>
                    <a:pt x="0" y="48948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46124" cy="527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19129" y="536100"/>
            <a:ext cx="1906071" cy="1667812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882349" y="3150659"/>
            <a:ext cx="8842834" cy="6107641"/>
          </a:xfrm>
          <a:custGeom>
            <a:avLst/>
            <a:gdLst/>
            <a:ahLst/>
            <a:cxnLst/>
            <a:rect r="r" b="b" t="t" l="l"/>
            <a:pathLst>
              <a:path h="6107641" w="8842834">
                <a:moveTo>
                  <a:pt x="0" y="0"/>
                </a:moveTo>
                <a:lnTo>
                  <a:pt x="8842834" y="0"/>
                </a:lnTo>
                <a:lnTo>
                  <a:pt x="8842834" y="6107641"/>
                </a:lnTo>
                <a:lnTo>
                  <a:pt x="0" y="6107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3906" y="2222614"/>
            <a:ext cx="5325630" cy="73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674" indent="-30533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8" spc="-56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Encoding and Partitioning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4122" y="2786593"/>
            <a:ext cx="6072932" cy="57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Target Transformation: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Price_Log = log1p(Price)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Objective: Reduce skewness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in-Test Split: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80% Train (1196 samples)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20% Test (300 s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amples)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random_state=42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One-Hot Encoding: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</a:t>
            </a: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egorical variables → Binary variables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final features: 39 columns</a:t>
            </a:r>
          </a:p>
          <a:p>
            <a:pPr algn="just" marL="355203" indent="-177602" lvl="1">
              <a:lnSpc>
                <a:spcPts val="3273"/>
              </a:lnSpc>
              <a:buFont typeface="Arial"/>
              <a:buChar char="•"/>
            </a:pPr>
            <a:r>
              <a:rPr lang="en-US" sz="1645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Train/test alignment</a:t>
            </a:r>
          </a:p>
          <a:p>
            <a:pPr algn="just">
              <a:lnSpc>
                <a:spcPts val="327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868263" y="2213089"/>
            <a:ext cx="4597869" cy="35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846" indent="-283423" lvl="1">
              <a:lnSpc>
                <a:spcPts val="265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5" spc="-52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Feature Importance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68263" y="2742653"/>
            <a:ext cx="5298109" cy="302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710" indent="-164855" lvl="1">
              <a:lnSpc>
                <a:spcPts val="3039"/>
              </a:lnSpc>
              <a:buFont typeface="Arial"/>
              <a:buChar char="•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 features: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anufacturing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ear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Brand (dummy variables)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Mileage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age_Intensity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Transmissi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</a:p>
          <a:p>
            <a:pPr algn="just" marL="659421" indent="-219807" lvl="2">
              <a:lnSpc>
                <a:spcPts val="3039"/>
              </a:lnSpc>
              <a:buAutoNum type="alphaLcPeriod" startAt="1"/>
            </a:pP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527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  <a:p>
            <a:pPr algn="just">
              <a:lnSpc>
                <a:spcPts val="30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15495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112793"/>
            <a:ext cx="4008472" cy="4061413"/>
            <a:chOff x="0" y="0"/>
            <a:chExt cx="1356078" cy="1373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6078" cy="1373988"/>
            </a:xfrm>
            <a:custGeom>
              <a:avLst/>
              <a:gdLst/>
              <a:ahLst/>
              <a:cxnLst/>
              <a:rect r="r" b="b" t="t" l="l"/>
              <a:pathLst>
                <a:path h="1373988" w="1356078">
                  <a:moveTo>
                    <a:pt x="32834" y="0"/>
                  </a:moveTo>
                  <a:lnTo>
                    <a:pt x="1323244" y="0"/>
                  </a:lnTo>
                  <a:cubicBezTo>
                    <a:pt x="1341378" y="0"/>
                    <a:pt x="1356078" y="14700"/>
                    <a:pt x="1356078" y="32834"/>
                  </a:cubicBezTo>
                  <a:lnTo>
                    <a:pt x="1356078" y="1341155"/>
                  </a:lnTo>
                  <a:cubicBezTo>
                    <a:pt x="1356078" y="1359288"/>
                    <a:pt x="1341378" y="1373988"/>
                    <a:pt x="1323244" y="1373988"/>
                  </a:cubicBezTo>
                  <a:lnTo>
                    <a:pt x="32834" y="1373988"/>
                  </a:lnTo>
                  <a:cubicBezTo>
                    <a:pt x="14700" y="1373988"/>
                    <a:pt x="0" y="1359288"/>
                    <a:pt x="0" y="1341155"/>
                  </a:cubicBezTo>
                  <a:lnTo>
                    <a:pt x="0" y="32834"/>
                  </a:lnTo>
                  <a:cubicBezTo>
                    <a:pt x="0" y="14700"/>
                    <a:pt x="14700" y="0"/>
                    <a:pt x="3283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56078" cy="141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92552" y="4721794"/>
            <a:ext cx="5336708" cy="4065934"/>
            <a:chOff x="0" y="0"/>
            <a:chExt cx="1785931" cy="1360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5931" cy="1360666"/>
            </a:xfrm>
            <a:custGeom>
              <a:avLst/>
              <a:gdLst/>
              <a:ahLst/>
              <a:cxnLst/>
              <a:rect r="r" b="b" t="t" l="l"/>
              <a:pathLst>
                <a:path h="1360666" w="1785931">
                  <a:moveTo>
                    <a:pt x="24662" y="0"/>
                  </a:moveTo>
                  <a:lnTo>
                    <a:pt x="1761269" y="0"/>
                  </a:lnTo>
                  <a:cubicBezTo>
                    <a:pt x="1774889" y="0"/>
                    <a:pt x="1785931" y="11041"/>
                    <a:pt x="1785931" y="24662"/>
                  </a:cubicBezTo>
                  <a:lnTo>
                    <a:pt x="1785931" y="1336004"/>
                  </a:lnTo>
                  <a:cubicBezTo>
                    <a:pt x="1785931" y="1342545"/>
                    <a:pt x="1783332" y="1348818"/>
                    <a:pt x="1778708" y="1353442"/>
                  </a:cubicBezTo>
                  <a:cubicBezTo>
                    <a:pt x="1774082" y="1358067"/>
                    <a:pt x="1767810" y="1360666"/>
                    <a:pt x="1761269" y="1360666"/>
                  </a:cubicBezTo>
                  <a:lnTo>
                    <a:pt x="24662" y="1360666"/>
                  </a:lnTo>
                  <a:cubicBezTo>
                    <a:pt x="11041" y="1360666"/>
                    <a:pt x="0" y="1349624"/>
                    <a:pt x="0" y="1336004"/>
                  </a:cubicBezTo>
                  <a:lnTo>
                    <a:pt x="0" y="24662"/>
                  </a:lnTo>
                  <a:cubicBezTo>
                    <a:pt x="0" y="18121"/>
                    <a:pt x="2598" y="11848"/>
                    <a:pt x="7223" y="7223"/>
                  </a:cubicBezTo>
                  <a:cubicBezTo>
                    <a:pt x="11848" y="2598"/>
                    <a:pt x="18121" y="0"/>
                    <a:pt x="2466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85931" cy="1398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019556" y="491200"/>
            <a:ext cx="5648750" cy="4652300"/>
          </a:xfrm>
          <a:custGeom>
            <a:avLst/>
            <a:gdLst/>
            <a:ahLst/>
            <a:cxnLst/>
            <a:rect r="r" b="b" t="t" l="l"/>
            <a:pathLst>
              <a:path h="4652300" w="5648750">
                <a:moveTo>
                  <a:pt x="0" y="0"/>
                </a:moveTo>
                <a:lnTo>
                  <a:pt x="5648750" y="0"/>
                </a:lnTo>
                <a:lnTo>
                  <a:pt x="5648750" y="4652300"/>
                </a:lnTo>
                <a:lnTo>
                  <a:pt x="0" y="4652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12275" y="5368578"/>
            <a:ext cx="5656031" cy="4511897"/>
          </a:xfrm>
          <a:custGeom>
            <a:avLst/>
            <a:gdLst/>
            <a:ahLst/>
            <a:cxnLst/>
            <a:rect r="r" b="b" t="t" l="l"/>
            <a:pathLst>
              <a:path h="4511897" w="5656031">
                <a:moveTo>
                  <a:pt x="0" y="0"/>
                </a:moveTo>
                <a:lnTo>
                  <a:pt x="5656031" y="0"/>
                </a:lnTo>
                <a:lnTo>
                  <a:pt x="5656031" y="4511897"/>
                </a:lnTo>
                <a:lnTo>
                  <a:pt x="0" y="4511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7520" y="2632037"/>
            <a:ext cx="7573386" cy="3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674" indent="-30533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8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</a:t>
            </a:r>
            <a:r>
              <a:rPr lang="en-US" b="true" sz="2828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Building : 3 algorithms tested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6944" y="4058857"/>
            <a:ext cx="4597869" cy="37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027" indent="-305013" lvl="1">
              <a:lnSpc>
                <a:spcPts val="28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5" spc="-56">
                <a:solidFill>
                  <a:srgbClr val="19191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Evaluation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8542" y="914603"/>
            <a:ext cx="10102684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0"/>
              </a:lnSpc>
            </a:pPr>
            <a:r>
              <a:rPr lang="en-US" sz="7000" spc="-140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Modeling - Algorithms</a:t>
            </a:r>
          </a:p>
          <a:p>
            <a:pPr algn="l" marL="0" indent="0" lvl="0">
              <a:lnSpc>
                <a:spcPts val="707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35415" y="3436989"/>
            <a:ext cx="3195042" cy="331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6"/>
              </a:lnSpc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Linear Regression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 and interpretable baseline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Hypothesis: Linear relationship</a:t>
            </a:r>
          </a:p>
          <a:p>
            <a:pPr algn="just">
              <a:lnSpc>
                <a:spcPts val="2416"/>
              </a:lnSpc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 Regressor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Ensemb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learning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andles non-linearities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Robust to 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outliers</a:t>
            </a:r>
          </a:p>
          <a:p>
            <a:pPr algn="just">
              <a:lnSpc>
                <a:spcPts val="2416"/>
              </a:lnSpc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</a:t>
            </a: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Gradient Boosting Regressor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Sequential ensemble</a:t>
            </a:r>
          </a:p>
          <a:p>
            <a:pPr algn="just" marL="262124" indent="-131062" lvl="1">
              <a:lnSpc>
                <a:spcPts val="2416"/>
              </a:lnSpc>
              <a:buFont typeface="Arial"/>
              <a:buChar char="•"/>
            </a:pPr>
            <a:r>
              <a:rPr lang="en-US" b="true" sz="1214" spc="1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potential accuracy</a:t>
            </a:r>
          </a:p>
          <a:p>
            <a:pPr algn="just">
              <a:lnSpc>
                <a:spcPts val="241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800407" y="5263803"/>
            <a:ext cx="4653840" cy="287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2"/>
              </a:lnSpc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Metrics used: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R² (R-squared): Quality of fit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RMSE (Root Mean Square Error): Quadratic error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MAE (Mean</a:t>
            </a: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Absolute Error): A</a:t>
            </a: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bsolute</a:t>
            </a: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err</a:t>
            </a: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MAPE (Mean Absolute Percentage Error): Error in %</a:t>
            </a:r>
          </a:p>
          <a:p>
            <a:pPr algn="just">
              <a:lnSpc>
                <a:spcPts val="2552"/>
              </a:lnSpc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 </a:t>
            </a: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Scale: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log-transformed data</a:t>
            </a:r>
          </a:p>
          <a:p>
            <a:pPr algn="just" marL="276963" indent="-138482" lvl="1">
              <a:lnSpc>
                <a:spcPts val="2552"/>
              </a:lnSpc>
              <a:buFont typeface="Arial"/>
              <a:buChar char="•"/>
            </a:pPr>
            <a:r>
              <a:rPr lang="en-US" b="true" sz="1282" spc="1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original data (MAD)</a:t>
            </a:r>
          </a:p>
          <a:p>
            <a:pPr algn="just">
              <a:lnSpc>
                <a:spcPts val="255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2604" y="2153417"/>
            <a:ext cx="45238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78562" y="5143500"/>
            <a:ext cx="13943845" cy="4550779"/>
          </a:xfrm>
          <a:custGeom>
            <a:avLst/>
            <a:gdLst/>
            <a:ahLst/>
            <a:cxnLst/>
            <a:rect r="r" b="b" t="t" l="l"/>
            <a:pathLst>
              <a:path h="4550779" w="13943845">
                <a:moveTo>
                  <a:pt x="0" y="0"/>
                </a:moveTo>
                <a:lnTo>
                  <a:pt x="13943845" y="0"/>
                </a:lnTo>
                <a:lnTo>
                  <a:pt x="13943845" y="4550779"/>
                </a:lnTo>
                <a:lnTo>
                  <a:pt x="0" y="4550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38768" y="978708"/>
            <a:ext cx="14920532" cy="190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7"/>
              </a:lnSpc>
            </a:pPr>
            <a:r>
              <a:rPr lang="en-US" sz="7255" spc="-145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Predicted vs Actual  Visualization</a:t>
            </a:r>
          </a:p>
          <a:p>
            <a:pPr algn="l" marL="0" indent="0" lvl="0">
              <a:lnSpc>
                <a:spcPts val="732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32900" y="2420744"/>
            <a:ext cx="6614660" cy="295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7031" indent="-183515" lvl="1">
              <a:lnSpc>
                <a:spcPts val="3383"/>
              </a:lnSpc>
              <a:buFont typeface="Arial"/>
              <a:buChar char="•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Scatt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 plots: 3 models side by side</a:t>
            </a:r>
          </a:p>
          <a:p>
            <a:pPr algn="just" marL="367031" indent="-183515" lvl="1">
              <a:lnSpc>
                <a:spcPts val="3383"/>
              </a:lnSpc>
              <a:buFont typeface="Arial"/>
              <a:buChar char="•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 line: y = x (perfect prediction)</a:t>
            </a:r>
          </a:p>
          <a:p>
            <a:pPr algn="just" marL="367031" indent="-183515" lvl="1">
              <a:lnSpc>
                <a:spcPts val="3383"/>
              </a:lnSpc>
              <a:buFont typeface="Arial"/>
              <a:buChar char="•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Observations:</a:t>
            </a:r>
          </a:p>
          <a:p>
            <a:pPr algn="just" marL="734061" indent="-244687" lvl="2">
              <a:lnSpc>
                <a:spcPts val="3383"/>
              </a:lnSpc>
              <a:buFont typeface="Arial"/>
              <a:buChar char="⚬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Forest: Poi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nts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closer to diagonal</a:t>
            </a:r>
          </a:p>
          <a:p>
            <a:pPr algn="just" marL="734061" indent="-244687" lvl="2">
              <a:lnSpc>
                <a:spcPts val="3383"/>
              </a:lnSpc>
              <a:buFont typeface="Arial"/>
              <a:buChar char="⚬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Linear Regres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sion: M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ore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dispersion</a:t>
            </a:r>
          </a:p>
          <a:p>
            <a:pPr algn="just" marL="734061" indent="-244687" lvl="2">
              <a:lnSpc>
                <a:spcPts val="3383"/>
              </a:lnSpc>
              <a:buFont typeface="Arial"/>
              <a:buChar char="⚬"/>
            </a:pPr>
            <a:r>
              <a:rPr lang="en-US" b="true" sz="1700" spc="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Underestimation of very high prices (all models)</a:t>
            </a:r>
          </a:p>
          <a:p>
            <a:pPr algn="just">
              <a:lnSpc>
                <a:spcPts val="338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243051" y="-1114517"/>
            <a:ext cx="5164790" cy="7393824"/>
            <a:chOff x="0" y="0"/>
            <a:chExt cx="812800" cy="1163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163591"/>
            </a:xfrm>
            <a:custGeom>
              <a:avLst/>
              <a:gdLst/>
              <a:ahLst/>
              <a:cxnLst/>
              <a:rect r="r" b="b" t="t" l="l"/>
              <a:pathLst>
                <a:path h="1163591" w="812800">
                  <a:moveTo>
                    <a:pt x="406400" y="1163591"/>
                  </a:moveTo>
                  <a:lnTo>
                    <a:pt x="0" y="757191"/>
                  </a:lnTo>
                  <a:lnTo>
                    <a:pt x="203200" y="75719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757191"/>
                  </a:lnTo>
                  <a:lnTo>
                    <a:pt x="812800" y="757191"/>
                  </a:lnTo>
                  <a:lnTo>
                    <a:pt x="406400" y="116359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38100"/>
              <a:ext cx="406400" cy="1100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243051" y="4007693"/>
            <a:ext cx="5164790" cy="7393824"/>
            <a:chOff x="0" y="0"/>
            <a:chExt cx="812800" cy="1163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163591"/>
            </a:xfrm>
            <a:custGeom>
              <a:avLst/>
              <a:gdLst/>
              <a:ahLst/>
              <a:cxnLst/>
              <a:rect r="r" b="b" t="t" l="l"/>
              <a:pathLst>
                <a:path h="1163591" w="812800">
                  <a:moveTo>
                    <a:pt x="406400" y="1163591"/>
                  </a:moveTo>
                  <a:lnTo>
                    <a:pt x="0" y="757191"/>
                  </a:lnTo>
                  <a:lnTo>
                    <a:pt x="203200" y="75719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757191"/>
                  </a:lnTo>
                  <a:lnTo>
                    <a:pt x="812800" y="757191"/>
                  </a:lnTo>
                  <a:lnTo>
                    <a:pt x="406400" y="116359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38100"/>
              <a:ext cx="406400" cy="1100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70399" y="6015584"/>
            <a:ext cx="3882600" cy="2651114"/>
          </a:xfrm>
          <a:custGeom>
            <a:avLst/>
            <a:gdLst/>
            <a:ahLst/>
            <a:cxnLst/>
            <a:rect r="r" b="b" t="t" l="l"/>
            <a:pathLst>
              <a:path h="2651114" w="3882600">
                <a:moveTo>
                  <a:pt x="0" y="0"/>
                </a:moveTo>
                <a:lnTo>
                  <a:pt x="3882600" y="0"/>
                </a:lnTo>
                <a:lnTo>
                  <a:pt x="3882600" y="2651114"/>
                </a:lnTo>
                <a:lnTo>
                  <a:pt x="0" y="26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33953" y="914400"/>
            <a:ext cx="5707664" cy="335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1"/>
              </a:lnSpc>
            </a:pPr>
            <a:r>
              <a:rPr lang="en-US" b="true" sz="2218" spc="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Methodology:</a:t>
            </a:r>
          </a:p>
          <a:p>
            <a:pPr algn="just" marL="478927" indent="-239464" lvl="1">
              <a:lnSpc>
                <a:spcPts val="3881"/>
              </a:lnSpc>
              <a:buFont typeface="Arial"/>
              <a:buChar char="•"/>
            </a:pPr>
            <a:r>
              <a:rPr lang="en-US" sz="2218" spc="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 = 5 folds</a:t>
            </a:r>
          </a:p>
          <a:p>
            <a:pPr algn="just" marL="478927" indent="-239464" lvl="1">
              <a:lnSpc>
                <a:spcPts val="3881"/>
              </a:lnSpc>
              <a:buFont typeface="Arial"/>
              <a:buChar char="•"/>
            </a:pPr>
            <a:r>
              <a:rPr lang="en-US" sz="2218" spc="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Shuffle + random_state=42</a:t>
            </a:r>
          </a:p>
          <a:p>
            <a:pPr algn="just" marL="478927" indent="-239464" lvl="1">
              <a:lnSpc>
                <a:spcPts val="3881"/>
              </a:lnSpc>
              <a:buFont typeface="Arial"/>
              <a:buChar char="•"/>
            </a:pPr>
            <a:r>
              <a:rPr lang="en-US" sz="2218" spc="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Metrics: R² and RMSE</a:t>
            </a:r>
          </a:p>
          <a:p>
            <a:pPr algn="just" marL="478927" indent="-239464" lvl="1">
              <a:lnSpc>
                <a:spcPts val="3881"/>
              </a:lnSpc>
              <a:buFont typeface="Arial"/>
              <a:buChar char="•"/>
            </a:pPr>
            <a:r>
              <a:rPr lang="en-US" sz="2218" spc="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Insight: Models are closer in CV than in single test split</a:t>
            </a:r>
          </a:p>
          <a:p>
            <a:pPr algn="just">
              <a:lnSpc>
                <a:spcPts val="388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37299" y="2084876"/>
            <a:ext cx="8578168" cy="119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  <a:spcBef>
                <a:spcPct val="0"/>
              </a:spcBef>
            </a:pPr>
            <a:r>
              <a:rPr lang="en-US" b="true" sz="4554" spc="-9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K-Fold C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oss-Val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dation</a:t>
            </a:r>
          </a:p>
          <a:p>
            <a:pPr algn="l" marL="0" indent="0" lvl="0">
              <a:lnSpc>
                <a:spcPts val="46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65832" y="7207086"/>
            <a:ext cx="8578168" cy="119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  <a:spcBef>
                <a:spcPct val="0"/>
              </a:spcBef>
            </a:pPr>
            <a:r>
              <a:rPr lang="en-US" b="true" sz="4554" spc="-9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Hype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rpa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er Tun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</a:t>
            </a:r>
            <a:r>
              <a:rPr lang="en-US" b="true" sz="4554" spc="-91" strike="noStrike" u="non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</a:t>
            </a:r>
          </a:p>
          <a:p>
            <a:pPr algn="l" marL="0" indent="0" lvl="0">
              <a:lnSpc>
                <a:spcPts val="46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833953" y="5664054"/>
            <a:ext cx="7257879" cy="407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6"/>
              </a:lnSpc>
            </a:pPr>
            <a:r>
              <a:rPr lang="en-US" b="true" sz="2318" spc="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Parameters tested (Random Forest):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n_estimators: [100, 200, 300, 400]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max_depth: [None, 10, 15, 20, 25]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min_samples_split: [2, 5, 10]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min_samples_leaf: [1, 2, 4]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max_features: ['sqrt', 'log2', None]</a:t>
            </a:r>
          </a:p>
          <a:p>
            <a:pPr algn="just" marL="500517" indent="-250258" lvl="1">
              <a:lnSpc>
                <a:spcPts val="4056"/>
              </a:lnSpc>
              <a:buFont typeface="Arial"/>
              <a:buChar char="•"/>
            </a:pPr>
            <a:r>
              <a:rPr lang="en-US" sz="2318" spc="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Result: CV R² improved from 0.61 → 0.65</a:t>
            </a:r>
          </a:p>
          <a:p>
            <a:pPr algn="just">
              <a:lnSpc>
                <a:spcPts val="405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161984"/>
            <a:ext cx="10280317" cy="1797098"/>
            <a:chOff x="0" y="0"/>
            <a:chExt cx="2707573" cy="473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7573" cy="473310"/>
            </a:xfrm>
            <a:custGeom>
              <a:avLst/>
              <a:gdLst/>
              <a:ahLst/>
              <a:cxnLst/>
              <a:rect r="r" b="b" t="t" l="l"/>
              <a:pathLst>
                <a:path h="473310" w="2707573">
                  <a:moveTo>
                    <a:pt x="0" y="0"/>
                  </a:moveTo>
                  <a:lnTo>
                    <a:pt x="2707573" y="0"/>
                  </a:lnTo>
                  <a:lnTo>
                    <a:pt x="2707573" y="473310"/>
                  </a:lnTo>
                  <a:lnTo>
                    <a:pt x="0" y="47331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7573" cy="511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528717"/>
            <a:ext cx="1738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5709" y="4215958"/>
            <a:ext cx="6626265" cy="282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9"/>
              </a:lnSpc>
            </a:pPr>
            <a:r>
              <a:rPr lang="en-US" sz="1799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Selected model: </a:t>
            </a:r>
            <a:r>
              <a:rPr lang="en-US" b="true" sz="1799" spc="1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 (non-tuned)</a:t>
            </a:r>
            <a:r>
              <a:rPr lang="en-US" sz="1799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=&gt; </a:t>
            </a:r>
          </a:p>
          <a:p>
            <a:pPr algn="just" marL="345439" indent="-172720" lvl="1">
              <a:lnSpc>
                <a:spcPts val="2799"/>
              </a:lnSpc>
              <a:buFont typeface="Arial"/>
              <a:buChar char="•"/>
            </a:pPr>
            <a:r>
              <a:rPr lang="en-US" sz="1599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Best performance on test set (R² = 0.656)</a:t>
            </a:r>
          </a:p>
          <a:p>
            <a:pPr algn="just" marL="345439" indent="-172720" lvl="1">
              <a:lnSpc>
                <a:spcPts val="2799"/>
              </a:lnSpc>
              <a:buFont typeface="Arial"/>
              <a:buChar char="•"/>
            </a:pPr>
            <a:r>
              <a:rPr lang="en-US" sz="1599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Tuned model slightly underperformed on this specific test set</a:t>
            </a:r>
          </a:p>
          <a:p>
            <a:pPr algn="just" marL="345439" indent="-172720" lvl="1">
              <a:lnSpc>
                <a:spcPts val="2799"/>
              </a:lnSpc>
              <a:buFont typeface="Arial"/>
              <a:buChar char="•"/>
            </a:pPr>
            <a:r>
              <a:rPr lang="en-US" sz="1599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Inherent variance in small test sets (300 samples)</a:t>
            </a:r>
          </a:p>
          <a:p>
            <a:pPr algn="just" marL="345439" indent="-172720" lvl="1">
              <a:lnSpc>
                <a:spcPts val="2799"/>
              </a:lnSpc>
              <a:buFont typeface="Arial"/>
              <a:buChar char="•"/>
            </a:pPr>
            <a:r>
              <a:rPr lang="en-US" sz="1599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Cross-validation remains the most reliable indicator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91024" y="1391794"/>
            <a:ext cx="10797482" cy="209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3"/>
              </a:lnSpc>
              <a:spcBef>
                <a:spcPct val="0"/>
              </a:spcBef>
            </a:pPr>
            <a:r>
              <a:rPr lang="en-US" b="true" sz="7943" spc="-158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Final 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od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 Sele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</a:t>
            </a:r>
            <a:r>
              <a:rPr lang="en-US" b="true" sz="7943" spc="-158" strike="noStrike" u="non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on</a:t>
            </a:r>
          </a:p>
          <a:p>
            <a:pPr algn="l" marL="0" indent="0" lvl="0">
              <a:lnSpc>
                <a:spcPts val="8023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88268" y="2371783"/>
            <a:ext cx="6820303" cy="6689633"/>
          </a:xfrm>
          <a:custGeom>
            <a:avLst/>
            <a:gdLst/>
            <a:ahLst/>
            <a:cxnLst/>
            <a:rect r="r" b="b" t="t" l="l"/>
            <a:pathLst>
              <a:path h="6689633" w="6820303">
                <a:moveTo>
                  <a:pt x="0" y="0"/>
                </a:moveTo>
                <a:lnTo>
                  <a:pt x="6820302" y="0"/>
                </a:lnTo>
                <a:lnTo>
                  <a:pt x="6820302" y="6689633"/>
                </a:lnTo>
                <a:lnTo>
                  <a:pt x="0" y="6689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088" t="0" r="-97446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53921" y="8279838"/>
            <a:ext cx="5245716" cy="1551674"/>
          </a:xfrm>
          <a:custGeom>
            <a:avLst/>
            <a:gdLst/>
            <a:ahLst/>
            <a:cxnLst/>
            <a:rect r="r" b="b" t="t" l="l"/>
            <a:pathLst>
              <a:path h="1551674" w="5245716">
                <a:moveTo>
                  <a:pt x="0" y="0"/>
                </a:moveTo>
                <a:lnTo>
                  <a:pt x="5245716" y="0"/>
                </a:lnTo>
                <a:lnTo>
                  <a:pt x="5245716" y="1551674"/>
                </a:lnTo>
                <a:lnTo>
                  <a:pt x="0" y="15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8300" y="3722642"/>
            <a:ext cx="7285621" cy="142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91"/>
              </a:lnSpc>
              <a:spcBef>
                <a:spcPct val="0"/>
              </a:spcBef>
            </a:pPr>
            <a:r>
              <a:rPr lang="en-US" b="true" sz="10586" spc="-21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DAHMp0YM6fM</dc:identifier>
  <dcterms:modified xsi:type="dcterms:W3CDTF">2011-08-01T06:04:30Z</dcterms:modified>
  <cp:revision>1</cp:revision>
  <dc:title>Présentation professionnel marketing sobre et élégant vert blanc noir</dc:title>
</cp:coreProperties>
</file>